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Automotive Consumer Sentiment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</a:defRPr>
            </a:pPr>
            <a:r>
              <a:t>Wow Factor Excavation - DeepSeek AI Integrated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7D3EA"/>
                </a:solidFill>
              </a:defRPr>
            </a:pPr>
            <a:r>
              <a:t>Model: Honda BRV | Total Data: 50 Comments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Data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Total Comments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137160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FFAFE"/>
                </a:solidFill>
              </a:defRPr>
            </a:pPr>
            <a:r>
              <a:t>Substantial (62%)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A2B4A"/>
                </a:solidFill>
              </a:defRPr>
            </a:pPr>
            <a:r>
              <a:t>Sentiment Distribution (Substantial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Positive: 14 | Neutral: 15 | Negative: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AI Generated Qualitative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91440" cy="109728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Category: Comfort &amp;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Signal: Family comfort and space satisfaction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Implication: The brand should emphasize the vehicle's ability to comfortably accommodate a full load of adults on challenging terrain, as this is a key differentiator for family buyers. Highlighting the traditional handbrake and simple setup can also appeal to new drivers seeking familiarity.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91440" cy="109728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Category: Value Perception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Signal: Value for money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Implication: The BR-V's perceived value is driven by its practical size, fuel efficiency, and Honda's reliability, but customers are price-sensitive and prefer to avoid costly factory upgrades. Honda should consider offering a mid-spec variant with key features like leather seats and parking sensors to capture buyers who want value without aftermarket hassle.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91440" cy="109728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t>Category: Styling /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</a:defRPr>
            </a:pPr>
            <a:r>
              <a:t>Signal: Timeless, clean, balanced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</a:defRPr>
            </a:pPr>
            <a:r>
              <a:t>Implication: Honda should emphasize the BRV's understated, timeless styling in marketing to attract buyers who value longevity and simplicity over flashy trends. This design approach can also justify a premium over lower trims by appealing to practical, non-customizing families.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Feature Sentiment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28600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Mentions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Positive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Neutral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05840"/>
            <a:ext cx="10972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097280"/>
            <a:ext cx="10972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Negative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46304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Comfort &amp; 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7160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4630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37360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182880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Value Perception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3192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8288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10312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1945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21031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0" y="21945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46887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56032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Powertrain / Performance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4048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246887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56032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83463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92607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Other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4048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3776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283463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26480" y="292607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200399"/>
            <a:ext cx="22860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329183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Safety &amp; ADAS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0" y="320039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464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40480" y="320039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93192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937760" y="320039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3200399"/>
            <a:ext cx="109728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26480" y="329183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3566159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65759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Brand Perception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356615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83464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840480" y="356615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3192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937760" y="356615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35040" y="3566159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126480" y="365759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57200" y="3931920"/>
            <a:ext cx="228600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8640" y="4023359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F172A"/>
                </a:solidFill>
              </a:defRPr>
            </a:pPr>
            <a:r>
              <a:t>New Tech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743200" y="39319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34640" y="402335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840480" y="39319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0" y="402335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937760" y="39319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0" y="402335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35040" y="3931920"/>
            <a:ext cx="109728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26480" y="4023359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F172A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Wow Factor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</a:defRPr>
            </a:pPr>
            <a:r>
              <a:t>Methodology &amp; Comment-Level 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How the Wow Factor Score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SENTIMENT WEIGHT (50%)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Positive = 1.0</a:t>
            </a:r>
            <a:br/>
            <a:r>
              <a:t>Neutral = 0.3</a:t>
            </a:r>
            <a:br/>
            <a:r>
              <a:t>Negative = 0.0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097280"/>
            <a:ext cx="384048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097280"/>
            <a:ext cx="3840480" cy="36576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1430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ENGAGEMENT SCORE (50%)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459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</a:defRPr>
            </a:pPr>
            <a:r>
              <a:t>Log-normalized engagement.</a:t>
            </a:r>
            <a:br/>
            <a:r>
              <a:t>Formula:</a:t>
            </a:r>
            <a:br/>
            <a:r>
              <a:t>log(1+likes) + 1.5 * log(1+replies)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7955279" cy="54864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77639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WOW SCORE = (Sentiment Weight x 50) + (Engagement Score x 0.50)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Top Comments by Wow 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914400"/>
            <a:ext cx="8229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960120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914400"/>
            <a:ext cx="164592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960120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914400"/>
            <a:ext cx="4937760" cy="274320"/>
          </a:xfrm>
          <a:prstGeom prst="rect">
            <a:avLst/>
          </a:prstGeom>
          <a:solidFill>
            <a:srgbClr val="1A2B4A"/>
          </a:solidFill>
          <a:ln>
            <a:solidFill>
              <a:srgbClr val="1A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60120"/>
            <a:ext cx="4937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93.5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11887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12801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1887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12801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Comfort &amp; Space; Comfort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1887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79" y="12801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i have this exact variant (and color!) and I must say, no regrets and I'm growing to 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91.3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0160" y="155448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16459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03120" y="155448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16459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Value Perception; Comfort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155448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79" y="16459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Bought the S then had the leather seats and rear parking sensors installed elsewhere....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84.4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80160" y="192024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201168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03120" y="192024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01168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192024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79" y="201168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I love the back side of the BRV, it looks so clean and 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28600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78.1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80160" y="228600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0" y="237744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0" y="228600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237744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Comfort &amp; Space; Powertra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228600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79" y="237744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Went to pick brv V after watching this and happy owning this for more than 6months no...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265176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76.5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80160" y="2651760"/>
            <a:ext cx="8229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274320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2651760"/>
            <a:ext cx="164592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274320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749039" y="2651760"/>
            <a:ext cx="4937760" cy="36576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840479" y="274320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While some are complaining about the back, the car looks better than the previous mod...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64.1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80160" y="3017520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71600" y="310896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3017520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94560" y="310896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Design; Styling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3017520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840479" y="310896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"Perfectly in the middle". 😊👍🏽 Mismo!</a:t>
            </a:r>
            <a:br/>
            <a:r>
              <a:t>Not over garnished. The back is just perfect. J...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61.4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80160" y="338327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371600" y="3474720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Neutral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03120" y="338327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94560" y="3474720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Styling / Design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49039" y="3383279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840479" y="3474720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The back has similarities to the Volkswagen Tiguan which is simple and elegant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4903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864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891B2"/>
                </a:solidFill>
              </a:defRPr>
            </a:pPr>
            <a:r>
              <a:t>57.7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280160" y="3749039"/>
            <a:ext cx="8229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71600" y="3840479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059669"/>
                </a:solidFill>
              </a:defRPr>
            </a:pPr>
            <a:r>
              <a:t>Positive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03120" y="3749039"/>
            <a:ext cx="16459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194560" y="3840479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Comfort &amp; Space; Comfort 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749039" y="3749039"/>
            <a:ext cx="4937760" cy="3657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79" y="3840479"/>
            <a:ext cx="4754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0F172A"/>
                </a:solidFill>
              </a:defRPr>
            </a:pPr>
            <a:r>
              <a:t>As an Asian kid,we have a Honda BRV too! It’s nice to ride and can fit me,my cousins,...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2B4A"/>
                </a:solidFill>
              </a:defRPr>
            </a:pPr>
            <a:r>
              <a:t>Average Wow Score by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824182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34439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49.9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1887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Other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45919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786763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83079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Styling /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1786696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Comfort &amp; 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43200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1774789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8803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48.5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8346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Brand Perception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383280"/>
            <a:ext cx="1637063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4290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44.8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3832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Value Perception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7772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1558222" cy="274320"/>
          </a:xfrm>
          <a:prstGeom prst="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776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42.6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93192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1A2B4A"/>
                </a:solidFill>
              </a:defRPr>
            </a:pPr>
            <a:r>
              <a:t>Powertrain /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805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</a:defRPr>
            </a:pPr>
            <a:r>
              <a:t>Note: wow_factor_score is computed per comment, not per feature. A comment discussing N features contributes its score to each of those N categories.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